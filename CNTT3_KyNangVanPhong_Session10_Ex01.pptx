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Giá trị giao dịch (nghìn VND)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Nạp điện thoại</c:v>
                </c:pt>
                <c:pt idx="1">
                  <c:v>Học phí</c:v>
                </c:pt>
                <c:pt idx="2">
                  <c:v>Vé xe</c:v>
                </c:pt>
                <c:pt idx="3">
                  <c:v>Dịch vụ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</c:v>
                </c:pt>
                <c:pt idx="1">
                  <c:v>950</c:v>
                </c:pt>
                <c:pt idx="2">
                  <c:v>230</c:v>
                </c:pt>
                <c:pt idx="3">
                  <c:v>420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Nghìn VND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Phí ghi nhận (VND)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Nạp điện thoại</c:v>
                </c:pt>
                <c:pt idx="1">
                  <c:v>Học phí</c:v>
                </c:pt>
                <c:pt idx="2">
                  <c:v>Vé xe</c:v>
                </c:pt>
                <c:pt idx="3">
                  <c:v>Dịch vụ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2700</c:v>
                </c:pt>
                <c:pt idx="1">
                  <c:v>4750</c:v>
                </c:pt>
                <c:pt idx="2">
                  <c:v>1380</c:v>
                </c:pt>
                <c:pt idx="3">
                  <c:v>2520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Phí tính lại (VND)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Nạp điện thoại</c:v>
                </c:pt>
                <c:pt idx="1">
                  <c:v>Học phí</c:v>
                </c:pt>
                <c:pt idx="2">
                  <c:v>Vé xe</c:v>
                </c:pt>
                <c:pt idx="3">
                  <c:v>Dịch vụ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2700</c:v>
                </c:pt>
                <c:pt idx="1">
                  <c:v>4750</c:v>
                </c:pt>
                <c:pt idx="2">
                  <c:v>1380</c:v>
                </c:pt>
                <c:pt idx="3">
                  <c:v>2520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6EDCDC"/>
                </a:solidFill>
                <a:latin typeface="Arial"/>
              </a:rPr>
              <a:t>PAYKX • BÁO CÁO ĐỐI SOÁT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Doanh thu giao dịch đạt 2,05 triệu VND trong tháng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97840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0">
                <a:solidFill>
                  <a:srgbClr val="E1EBF5"/>
                </a:solidFill>
                <a:latin typeface="Arial"/>
              </a:rPr>
              <a:t>Tổng hợp dòng tiền, phí đối tác và trạng thái giao dịch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0"/>
            <a:ext cx="97840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B4C8DC"/>
                </a:solidFill>
                <a:latin typeface="Arial"/>
              </a:rPr>
              <a:t>Bản mô phỏng phục vụ bài tập Session 10 • 27/10/2026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7365D"/>
                </a:solidFill>
                <a:latin typeface="Arial"/>
              </a:rPr>
              <a:t>Phí đối tác chiếm khoảng 0,6% giá trị giao dịch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37160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146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0070C0"/>
                </a:solidFill>
                <a:latin typeface="Arial"/>
              </a:rPr>
              <a:t>2,05M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3464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232D37"/>
                </a:solidFill>
                <a:latin typeface="Arial"/>
              </a:rPr>
              <a:t>VND giao dịch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828800"/>
            <a:ext cx="25146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9" y="214884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0070C0"/>
                </a:solidFill>
                <a:latin typeface="Arial"/>
              </a:rPr>
              <a:t>11.350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9" y="283464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232D37"/>
                </a:solidFill>
                <a:latin typeface="Arial"/>
              </a:rPr>
              <a:t>VND phí ghi nhận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25146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4884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0070C0"/>
                </a:solidFill>
                <a:latin typeface="Arial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3464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232D37"/>
                </a:solidFill>
                <a:latin typeface="Arial"/>
              </a:rPr>
              <a:t>Giao dịch 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1828800"/>
            <a:ext cx="25146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19" y="2148840"/>
            <a:ext cx="224028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0070C0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19" y="2834640"/>
            <a:ext cx="22402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232D37"/>
                </a:solidFill>
                <a:latin typeface="Arial"/>
              </a:rPr>
              <a:t>Giao dịch 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232D37"/>
                </a:solidFill>
                <a:latin typeface="Arial"/>
              </a:rPr>
              <a:t>Ưu tiên kiểm tra các khoản phí lệch trước khi chốt sổ tháng.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7899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rial"/>
              </a:rPr>
              <a:t>PAYKX | BÁO CÁO ĐỐI SOÁT THÁNG 10/2026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7365D"/>
                </a:solidFill>
                <a:latin typeface="Arial"/>
              </a:rPr>
              <a:t>Nạp điện thoại tạo dòng tiền giao dịch lớn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37160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00200"/>
          <a:ext cx="6675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26679" y="2011680"/>
            <a:ext cx="3840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0070C0"/>
                </a:solidFill>
                <a:latin typeface="Arial"/>
              </a:rPr>
              <a:t>950K VND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743200"/>
            <a:ext cx="3657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100" b="0">
                <a:solidFill>
                  <a:srgbClr val="232D37"/>
                </a:solidFill>
                <a:latin typeface="Arial"/>
              </a:rPr>
              <a:t>Học phí đóng góp lớn nhất trong tổng giá trị giao dịch mô phỏng.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251960"/>
            <a:ext cx="36576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5A646E"/>
                </a:solidFill>
                <a:latin typeface="Arial"/>
              </a:rPr>
              <a:t>Dữ liệu phân nhóm theo loại giao dịch.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7899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rial"/>
              </a:rPr>
              <a:t>PAYKX | BÁO CÁO ĐỐI SOÁT THÁNG 10/2026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7365D"/>
                </a:solidFill>
                <a:latin typeface="Arial"/>
              </a:rPr>
              <a:t>Đối soát phí cần ưu tiên các dòng có chênh lệch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37160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00200"/>
          <a:ext cx="67665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18120" y="196596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008C5A"/>
                </a:solidFill>
                <a:latin typeface="Arial"/>
              </a:rPr>
              <a:t>0 VND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788920"/>
            <a:ext cx="3657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100" b="0">
                <a:solidFill>
                  <a:srgbClr val="232D37"/>
                </a:solidFill>
                <a:latin typeface="Arial"/>
              </a:rPr>
              <a:t>Chênh lệch tổng phí theo dữ liệu minh họa hiện bằng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443484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5A646E"/>
                </a:solidFill>
                <a:latin typeface="Arial"/>
              </a:rPr>
              <a:t>Nếu lệch: xác minh tỷ lệ, loại giao dịch và mã tham chiếu.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7899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rial"/>
              </a:rPr>
              <a:t>PAYKX | BÁO CÁO ĐỐI SOÁT THÁNG 10/2026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7365D"/>
                </a:solidFill>
                <a:latin typeface="Arial"/>
              </a:rPr>
              <a:t>Chốt sổ an toàn cần kiểm tra dữ liệu trước khi thanh toán hoàn tiền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37160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8229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09999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0020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Chuẩn 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00200"/>
            <a:ext cx="7315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232D37"/>
                </a:solidFill>
                <a:latin typeface="Arial"/>
              </a:rPr>
              <a:t>TRIM tên, chuẩn mã giao dịch và loại dữ liệu.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15768"/>
            <a:ext cx="8229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09999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715768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Đối chiếu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15768"/>
            <a:ext cx="7315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232D37"/>
                </a:solidFill>
                <a:latin typeface="Arial"/>
              </a:rPr>
              <a:t>VLOOKUP(..., FALSE) để tìm khớp chính xác.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31335"/>
            <a:ext cx="8229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09999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831335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Điều 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831335"/>
            <a:ext cx="7315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232D37"/>
                </a:solidFill>
                <a:latin typeface="Arial"/>
              </a:rPr>
              <a:t>Kiểm tra #N/A, mã thiếu, khoảng trắng và vùng tra cứu.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46904"/>
            <a:ext cx="82296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09999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946904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300" b="1">
                <a:solidFill>
                  <a:srgbClr val="17365D"/>
                </a:solidFill>
                <a:latin typeface="Arial"/>
              </a:rPr>
              <a:t>Phê duyệt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946904"/>
            <a:ext cx="7315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900" b="0">
                <a:solidFill>
                  <a:srgbClr val="232D37"/>
                </a:solidFill>
                <a:latin typeface="Arial"/>
              </a:rPr>
              <a:t>Tách giao dịch lệch, lưu bằng chứng và chốt sau xác nhận.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78992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rial"/>
              </a:rPr>
              <a:t>PAYKX | BÁO CÁO ĐỐI SOÁT THÁNG 10/2026                                    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